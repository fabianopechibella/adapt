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Objetivo: avaliar a qualidade do PiPlanner antes da decisão do cliente. Duas baterias automatizadas, 307 testes, site público e área logada em desktop e mobile. Tudo somente leitura.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Escopo: Playwright (UI, acessibilidade, performance) e Selenium/Python (UI, API, carga). Tudo somente leitura, com a conta de demonstração. iPhone emulado.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Quadro-resumo. Verde em funcionalidade, segurança de acesso e carga. Evolução em performance mobile e acessibilidade (vermelho), mais ajustes de servidor e desktop (amarelo). Cor e palavra juntas.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307 testes entre as duas baterias. Reprovações concentradas em dois temas, o que torna o plano objetivo. Zero dados alterados reforça a segurança do método.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Começar pelos fortes passa confiança. Segurança de acesso validada no servidor (token ausente, organização trocada, usuário inexistente). Backend aguentou carga com latência estável de ~0,5 s: gargalo é o frontend.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Achado mais sensível para a adoção. Em 4G, mais de 8 s olhando tela em branco, inclusive no login. Solução conhecida: dividir o JS por rota e servir a home como página estática. Principal item do próximo ciclo.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Acessibilidade é risco de contrato: setor público e muitos compradores exigem conformidade. Maioria dos itens é correção direta: nomear botões, ajustar contraste, menu por teclado. Não é reescrever o produto.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Lista priorizada. Quatro itens de severidade alta. Todos com evidência. Detalhe no relatório; aqui mostra-se que o diagnóstico é completo e organizado.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Organizado por horizonte. Agora: correções rápidas e de alto impacto. Próximo PI: resolve o mobile. Depois: maturidade. Fechar com os testes no CI/CD para manter a qualidade a cada entrega.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Fechamento. Base confiável e problemas com caminho claro, a maioria em um ciclo. Próximo passo: priorizar o backlog com produto. Suíte fica disponível para rodar a cada entrega.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23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FA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DE QUALIDADE DE SOFTWARE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914400" cy="45720"/>
          </a:xfrm>
          <a:prstGeom prst="rect">
            <a:avLst/>
          </a:prstGeom>
          <a:solidFill>
            <a:srgbClr val="2E6B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2860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PiPlanner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8404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E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de interface, API, integrações, segurança, usabilidade, performance e carga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943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executivo · 17 de outubro de 2026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891272" y="5943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 testes automatizados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AVALIADO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Escopo da avaliação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sx="100000" sy="100000" kx="0" ky="0" algn="bl" rotWithShape="0" blurRad="76200" dist="25400" dir="5400000">
              <a:srgbClr val="99A3B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240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Cobertura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8346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páginas públicas e 18 telas da área logada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89120" y="192024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sx="100000" sy="100000" kx="0" ky="0" algn="bl" rotWithShape="0" blurRad="76200" dist="25400" dir="5400000">
              <a:srgbClr val="99A3B0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63440" y="2240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Dispositivos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8346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Desktop, Android (Pixel 7) e iPhone 14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38160" y="192024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sx="100000" sy="100000" kx="0" ky="0" algn="bl" rotWithShape="0" blurRad="76200" dist="25400" dir="5400000">
              <a:srgbClr val="99A3B0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412480" y="2240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Modo seguro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28346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Somente leitura: nenhum dado criado, alterado ou apagado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frentes de teste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4892040"/>
            <a:ext cx="1408176" cy="457200"/>
          </a:xfrm>
          <a:prstGeom prst="roundRect">
            <a:avLst>
              <a:gd name="adj" fmla="val 50000"/>
            </a:avLst>
          </a:prstGeom>
          <a:solidFill>
            <a:srgbClr val="E7EE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489204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branca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76856" y="4892040"/>
            <a:ext cx="1312164" cy="457200"/>
          </a:xfrm>
          <a:prstGeom prst="roundRect">
            <a:avLst>
              <a:gd name="adj" fmla="val 50000"/>
            </a:avLst>
          </a:prstGeom>
          <a:solidFill>
            <a:srgbClr val="E7EE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276856" y="4892040"/>
            <a:ext cx="13121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preta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817620" y="4892040"/>
            <a:ext cx="2080260" cy="457200"/>
          </a:xfrm>
          <a:prstGeom prst="roundRect">
            <a:avLst>
              <a:gd name="adj" fmla="val 50000"/>
            </a:avLst>
          </a:prstGeom>
          <a:solidFill>
            <a:srgbClr val="E7EEF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817620" y="4892040"/>
            <a:ext cx="2080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Automatizados (E2E)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26480" y="4892040"/>
            <a:ext cx="2944368" cy="457200"/>
          </a:xfrm>
          <a:prstGeom prst="roundRect">
            <a:avLst>
              <a:gd name="adj" fmla="val 50000"/>
            </a:avLst>
          </a:prstGeom>
          <a:solidFill>
            <a:srgbClr val="E7EE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126480" y="4892040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Usabilidade e acessibilidade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299448" y="4892040"/>
            <a:ext cx="1888236" cy="457200"/>
          </a:xfrm>
          <a:prstGeom prst="roundRect">
            <a:avLst>
              <a:gd name="adj" fmla="val 50000"/>
            </a:avLst>
          </a:prstGeom>
          <a:solidFill>
            <a:srgbClr val="E7EEF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299448" y="4892040"/>
            <a:ext cx="1888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 integrações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5486400"/>
            <a:ext cx="2080260" cy="457200"/>
          </a:xfrm>
          <a:prstGeom prst="roundRect">
            <a:avLst>
              <a:gd name="adj" fmla="val 50000"/>
            </a:avLst>
          </a:prstGeom>
          <a:solidFill>
            <a:srgbClr val="E7EEF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5486400"/>
            <a:ext cx="2080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 carga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VEREDITO GERAL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sólida, pronto para evoluir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 e seguro no acesso; os pontos de atenção estão concentrados em mobile e acessibilidade.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40280"/>
          <a:ext cx="1090879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194560"/>
                <a:gridCol w="450799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Dimensão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Avaliação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Síntese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Funcionalidade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8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Adequada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Tudo carrega sem travar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Segurança de acesso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8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Adequada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Controle validado no servidor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Estabilidade sob carga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8A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Adequada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erros até 30 simultâneos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Segurança de servidor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Atenção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Headers de proteção ausentes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desktop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Atenção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Telas internas de 3,6 a 5,4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mobile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Conteúdo em ~8,4 s no 4G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Acessibilidade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Falhas graves na maioria das telas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FA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BATERIA EM NÚMEROS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307 testes, duas rodadas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1E355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51460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307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5204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executados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228600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1E355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11880" y="251460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5FD0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158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35204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228600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1E355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55080" y="251460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3A7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35204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reprovados, rastreados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869680" y="228600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1E355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098280" y="251460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9098280" y="35204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alterados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57200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reprovações se concentram em acessibilidade e performance mobile. Cada uma virou um item com evidência e recomendação no plano de ação. Nenhum erro de JavaScript bloqueante nem erro 500 por falha de código.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JÁ ESTÁ BOM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Fundação confiável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sx="100000" sy="100000" kx="0" ky="0" algn="bl" rotWithShape="0" blurRad="76200" dist="25400" dir="5400000">
              <a:srgbClr val="99A3B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82296" cy="1828800"/>
          </a:xfrm>
          <a:prstGeom prst="rect">
            <a:avLst/>
          </a:prstGeom>
          <a:solidFill>
            <a:srgbClr val="1F8A4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1031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Controle de acesso validado no servidor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7432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sessão redireciona ao login; API recusa chamadas sem token; organização trocada é bloqueada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sx="100000" sy="100000" kx="0" ky="0" algn="bl" rotWithShape="0" blurRad="76200" dist="25400" dir="5400000">
              <a:srgbClr val="99A3B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828800"/>
            <a:ext cx="82296" cy="1828800"/>
          </a:xfrm>
          <a:prstGeom prst="rect">
            <a:avLst/>
          </a:prstGeom>
          <a:solidFill>
            <a:srgbClr val="1F8A4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21031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Proteção contra força bruta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7432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enumeração de usuários e com limite de tentativas de login por IP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sx="100000" sy="100000" kx="0" ky="0" algn="bl" rotWithShape="0" blurRad="76200" dist="25400" dir="5400000">
              <a:srgbClr val="99A3B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886200"/>
            <a:ext cx="82296" cy="1828800"/>
          </a:xfrm>
          <a:prstGeom prst="rect">
            <a:avLst/>
          </a:prstGeom>
          <a:solidFill>
            <a:srgbClr val="1F8A4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1605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sólido sob carga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8006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requisições, até 30 simultâneas, sem nenhum erro de servidor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38862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sx="100000" sy="100000" kx="0" ky="0" algn="bl" rotWithShape="0" blurRad="76200" dist="25400" dir="5400000">
              <a:srgbClr val="99A3B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3886200"/>
            <a:ext cx="82296" cy="1828800"/>
          </a:xfrm>
          <a:prstGeom prst="rect">
            <a:avLst/>
          </a:prstGeom>
          <a:solidFill>
            <a:srgbClr val="1F8A4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37960" y="41605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Estabilidade das telas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48006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18 telas internas carregam sem erro de JavaScript nem erro 500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CRÍTICO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celular, a tela demora a aparecer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BE9E7"/>
          </a:solidFill>
          <a:ln w="12700">
            <a:solidFill>
              <a:srgbClr val="E6B0A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8,4 s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47472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B2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conteúdo principal aparecer no 4G, o dobro do limite “ruim” do Google (4 s)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12064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60120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 a 2,8 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20640" y="2286000"/>
            <a:ext cx="6309360" cy="274320"/>
          </a:xfrm>
          <a:prstGeom prst="roundRect">
            <a:avLst>
              <a:gd name="adj" fmla="val 50000"/>
            </a:avLst>
          </a:prstGeom>
          <a:solidFill>
            <a:srgbClr val="E1E6ED"/>
          </a:solidFill>
          <a:ln/>
        </p:spPr>
      </p:sp>
      <p:sp>
        <p:nvSpPr>
          <p:cNvPr id="10" name="Shape 8"/>
          <p:cNvSpPr/>
          <p:nvPr/>
        </p:nvSpPr>
        <p:spPr>
          <a:xfrm>
            <a:off x="5120640" y="2286000"/>
            <a:ext cx="1766621" cy="274320"/>
          </a:xfrm>
          <a:prstGeom prst="roundRect">
            <a:avLst>
              <a:gd name="adj" fmla="val 50000"/>
            </a:avLst>
          </a:prstGeom>
          <a:solidFill>
            <a:srgbClr val="1F8A4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20640" y="2834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 (4G)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~8,4 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20640" y="3200400"/>
            <a:ext cx="6309360" cy="274320"/>
          </a:xfrm>
          <a:prstGeom prst="roundRect">
            <a:avLst>
              <a:gd name="adj" fmla="val 50000"/>
            </a:avLst>
          </a:prstGeom>
          <a:solidFill>
            <a:srgbClr val="E1E6ED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0" y="3200400"/>
            <a:ext cx="6309360" cy="27432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120640" y="374904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 única: o app baixa um pacote JavaScript de 4,5 MB antes de desenhar qualquer tela. Por isso até o login, uma página simples, demora o mesmo. O backend responde rápido; o gargalo é o frontend.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CRÍTICO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Acessibilidade: risco legal e de mercado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Falhas graves (WCAG 2.1 AA) nas 18 telas internas e em todas as páginas públicas. Boa parte se resolve com ajustes pontuais.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3035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4871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Botões só com ícone, sem nome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718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Leitor de tela anuncia apenas “botão”. Até 81 numa única tela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2286000"/>
            <a:ext cx="53035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24871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Menu não funciona pelo teclado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9718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não usa mouse não acessa as telas internas além do Dashboard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886200"/>
            <a:ext cx="53035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40873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Contraste de cor insuficiente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5720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Textos difíceis de ler para baixa visão e sob luz forte no celular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3886200"/>
            <a:ext cx="53035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40873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Áreas de toque pequenas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45720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de login e menu abaixo do mínimo recomendado no celular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6235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Relevante para a Lei Brasileira de Inclusão (13.146/2015) e para exigências de compradores corporativos.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CONSOLIDADA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Achados priorizados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08792" cy="914400"/>
        </p:xfrm>
        <a:graphic>
          <a:graphicData uri="http://schemas.openxmlformats.org/drawingml/2006/table">
            <a:tbl>
              <a:tblPr/>
              <a:tblGrid>
                <a:gridCol w="5943600"/>
                <a:gridCol w="1828800"/>
                <a:gridCol w="31363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Severidade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Carregamento mobile lento (~8,4 s no 4G)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Botões de ícone sem nome acessível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Acessibilidade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 lateral inacessível por teclado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Acessibilidade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quebra ao receber 404 em HTML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Integração / robustez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Falha de rede não é avisada ao usuário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Resiliência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Política de Privacidade nem Termos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Conformidade (LGPD)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Headers de segurança ausentes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Segurança de servidor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malformado gera erro 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/ robustez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Rotas de API inexistentes (404)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Contraste e áreas de toque no celular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Usabilidade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6080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fortes confirmados: controle de acesso, estabilidade sob carga e internacionalização (pt/en/es). Cada achado tem evidência no relatório técnico.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DE CORREÇÃO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 de ação por horizonte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747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sx="100000" sy="100000" kx="0" ky="0" algn="bl" rotWithShape="0" blurRad="76200" dist="25400" dir="5400000">
              <a:srgbClr val="99A3B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20240"/>
            <a:ext cx="3474720" cy="8229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194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Agora · 2 iterações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74320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Nomear botões de ícone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navegável por teclado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Ativar headers de segurança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as rotas 404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1920240"/>
            <a:ext cx="34747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sx="100000" sy="100000" kx="0" ky="0" algn="bl" rotWithShape="0" blurRad="76200" dist="25400" dir="5400000">
              <a:srgbClr val="99A3B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0" y="1920240"/>
            <a:ext cx="3474720" cy="82296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63440" y="2194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 PI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74320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o JavaScript por rota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como página estática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e áreas de toque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e pré-carregamento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38160" y="1920240"/>
            <a:ext cx="34747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sx="100000" sy="100000" kx="0" ky="0" algn="bl" rotWithShape="0" blurRad="76200" dist="25400" dir="5400000">
              <a:srgbClr val="99A3B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1920240"/>
            <a:ext cx="3474720" cy="82296"/>
          </a:xfrm>
          <a:prstGeom prst="rect">
            <a:avLst/>
          </a:prstGeom>
          <a:solidFill>
            <a:srgbClr val="2E6BE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12480" y="2194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6B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Depois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458200" y="274320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assinados (JWT)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Privacidade e Termos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de falha de rede nas telas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no pipeline de CI/CD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3035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correções de maior impacto cabem em um ciclo de planejamento. Recomenda-se adotar a suíte de testes como critério de aceite no pipeline, com orçamento de performance e zero falhas graves de acessibilidade como bloqueio de entrega.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FA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RESUMO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914400" cy="45720"/>
          </a:xfrm>
          <a:prstGeom prst="rect">
            <a:avLst/>
          </a:prstGeom>
          <a:solidFill>
            <a:srgbClr val="2E6BE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8288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Produto com base confiável e um caminho claro de evolução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49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 e estável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3749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FA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com evidências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138160" y="3749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A7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Correções em um ciclo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 passo: priorizar o backlog com o time de produto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623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técnico completo e suíte de testes disponíveis para reexecução a cada entrega.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PiPlanner — Apresentação ao Cliente</dc:title>
  <dc:subject>PptxGenJS Presentation</dc:subject>
  <dc:creator>QA — Consultoria</dc:creator>
  <cp:lastModifiedBy>QA — Consultoria</cp:lastModifiedBy>
  <cp:revision>1</cp:revision>
  <dcterms:created xsi:type="dcterms:W3CDTF">2026-10-17T04:13:45Z</dcterms:created>
  <dcterms:modified xsi:type="dcterms:W3CDTF">2026-10-17T04:13:45Z</dcterms:modified>
</cp:coreProperties>
</file>